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8.png" ContentType="image/png"/>
  <Override PartName="/ppt/media/image9.png" ContentType="image/pn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08788" cy="994092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Для перемещения страницы щёлкните мышью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2000" spc="-1" strike="noStrike"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1400" spc="-1" strike="noStrike">
                <a:latin typeface="Times New Roman"/>
              </a:rPr>
              <a:t>&lt;верхний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dt" idx="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ft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ru-RU" sz="1400" spc="-1" strike="noStrike">
                <a:latin typeface="Times New Roman"/>
              </a:defRPr>
            </a:lvl1pPr>
          </a:lstStyle>
          <a:p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02C65CAE-A981-47C8-AC2B-63E8E5F18847}" type="slidenum">
              <a:rPr b="0" lang="ru-RU" sz="1400" spc="-1" strike="noStrike">
                <a:latin typeface="Times New Roman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422280" y="1243080"/>
            <a:ext cx="5962680" cy="335304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0760" y="4784040"/>
            <a:ext cx="5445720" cy="391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18"/>
          </p:nvPr>
        </p:nvSpPr>
        <p:spPr>
          <a:xfrm>
            <a:off x="3856680" y="9442080"/>
            <a:ext cx="2949120" cy="49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6391876-C4CE-4120-A240-387886542571}" type="slidenum">
              <a:rPr b="0" lang="ru-RU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422280" y="1243080"/>
            <a:ext cx="5962680" cy="335304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0760" y="4784040"/>
            <a:ext cx="5445720" cy="391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19"/>
          </p:nvPr>
        </p:nvSpPr>
        <p:spPr>
          <a:xfrm>
            <a:off x="3856680" y="9442080"/>
            <a:ext cx="2949120" cy="49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AB99A6F2-8960-4626-B827-0DE9AE5EE05F}" type="slidenum">
              <a:rPr b="0" lang="ru-RU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422280" y="1243080"/>
            <a:ext cx="5962680" cy="335304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0760" y="4784040"/>
            <a:ext cx="5445720" cy="391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20"/>
          </p:nvPr>
        </p:nvSpPr>
        <p:spPr>
          <a:xfrm>
            <a:off x="3856680" y="9442080"/>
            <a:ext cx="2949120" cy="49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79D21F3-C813-438C-89BC-7AE66C613EF3}" type="slidenum">
              <a:rPr b="0" lang="ru-RU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422280" y="1243080"/>
            <a:ext cx="5962680" cy="335304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0760" y="4784040"/>
            <a:ext cx="5445720" cy="391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21"/>
          </p:nvPr>
        </p:nvSpPr>
        <p:spPr>
          <a:xfrm>
            <a:off x="3856680" y="9442080"/>
            <a:ext cx="2949120" cy="49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815F74C-2401-4B43-9EE4-3A40B153968D}" type="slidenum">
              <a:rPr b="0" lang="ru-RU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422280" y="1243080"/>
            <a:ext cx="5962680" cy="335304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0760" y="4784040"/>
            <a:ext cx="5445720" cy="391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22"/>
          </p:nvPr>
        </p:nvSpPr>
        <p:spPr>
          <a:xfrm>
            <a:off x="3856680" y="9442080"/>
            <a:ext cx="2949120" cy="49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BF2C653-2162-43B1-84C5-0E4110B61696}" type="slidenum">
              <a:rPr b="0" lang="ru-RU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422280" y="1243080"/>
            <a:ext cx="5962680" cy="335304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0760" y="4784040"/>
            <a:ext cx="5445720" cy="391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23"/>
          </p:nvPr>
        </p:nvSpPr>
        <p:spPr>
          <a:xfrm>
            <a:off x="3856680" y="9442080"/>
            <a:ext cx="2949120" cy="49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F80172E-7FC6-444D-AAA1-36CEC4251761}" type="slidenum">
              <a:rPr b="0" lang="ru-RU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422280" y="1243080"/>
            <a:ext cx="5962680" cy="335304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0760" y="4784040"/>
            <a:ext cx="5445720" cy="391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24"/>
          </p:nvPr>
        </p:nvSpPr>
        <p:spPr>
          <a:xfrm>
            <a:off x="3856680" y="9442080"/>
            <a:ext cx="2949120" cy="49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51B5163-B471-4F80-8091-B12869B773D4}" type="slidenum">
              <a:rPr b="0" lang="ru-RU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422280" y="1243080"/>
            <a:ext cx="5962680" cy="335304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0760" y="4784040"/>
            <a:ext cx="5445720" cy="391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25"/>
          </p:nvPr>
        </p:nvSpPr>
        <p:spPr>
          <a:xfrm>
            <a:off x="3856680" y="9442080"/>
            <a:ext cx="2949120" cy="49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82DDF7C-FE5C-4514-A2B3-B1F71DC1E37C}" type="slidenum">
              <a:rPr b="0" lang="ru-RU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422280" y="1243080"/>
            <a:ext cx="5962680" cy="335304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0760" y="4784040"/>
            <a:ext cx="5445720" cy="391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26"/>
          </p:nvPr>
        </p:nvSpPr>
        <p:spPr>
          <a:xfrm>
            <a:off x="3856680" y="9442080"/>
            <a:ext cx="2949120" cy="49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A2C21541-21A6-413B-9588-850191252C9C}" type="slidenum">
              <a:rPr b="0" lang="ru-RU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422280" y="1243080"/>
            <a:ext cx="5962680" cy="335304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0760" y="4784040"/>
            <a:ext cx="5445720" cy="391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27"/>
          </p:nvPr>
        </p:nvSpPr>
        <p:spPr>
          <a:xfrm>
            <a:off x="3856680" y="9442080"/>
            <a:ext cx="2949120" cy="49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5A4DDEA-BBBB-43DB-813B-2C6D91850817}" type="slidenum">
              <a:rPr b="0" lang="ru-RU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422280" y="1243080"/>
            <a:ext cx="5962680" cy="335304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0760" y="4784040"/>
            <a:ext cx="5445720" cy="391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28"/>
          </p:nvPr>
        </p:nvSpPr>
        <p:spPr>
          <a:xfrm>
            <a:off x="3856680" y="9442080"/>
            <a:ext cx="2949120" cy="49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F0F9AC38-B188-4603-BED2-88CCFDA7D753}" type="slidenum">
              <a:rPr b="0" lang="ru-RU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422280" y="1243080"/>
            <a:ext cx="5962680" cy="335304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0760" y="4784040"/>
            <a:ext cx="5445720" cy="391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29"/>
          </p:nvPr>
        </p:nvSpPr>
        <p:spPr>
          <a:xfrm>
            <a:off x="3856680" y="9442080"/>
            <a:ext cx="2949120" cy="49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A2FEF9C9-6788-491B-A7D8-53C2930B8FAB}" type="slidenum">
              <a:rPr b="0" lang="ru-RU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422280" y="1243080"/>
            <a:ext cx="5962680" cy="335304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0760" y="4784040"/>
            <a:ext cx="5445720" cy="391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30"/>
          </p:nvPr>
        </p:nvSpPr>
        <p:spPr>
          <a:xfrm>
            <a:off x="3856680" y="9442080"/>
            <a:ext cx="2949120" cy="49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A8B9EE41-1B9F-47DB-8703-E0DD40203776}" type="slidenum">
              <a:rPr b="0" lang="ru-RU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422280" y="1243080"/>
            <a:ext cx="5962680" cy="335304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0760" y="4784040"/>
            <a:ext cx="5445720" cy="391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31"/>
          </p:nvPr>
        </p:nvSpPr>
        <p:spPr>
          <a:xfrm>
            <a:off x="3856680" y="9442080"/>
            <a:ext cx="2949120" cy="49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3857409B-29EB-4317-8419-090FB32B8205}" type="slidenum">
              <a:rPr b="0" lang="ru-RU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85800" y="2179080"/>
            <a:ext cx="5504040" cy="187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79080"/>
            <a:ext cx="5504040" cy="187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85800" y="2179080"/>
            <a:ext cx="5504040" cy="187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85800" y="2179080"/>
            <a:ext cx="5504040" cy="187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685800" y="2179080"/>
            <a:ext cx="5504040" cy="86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85800" y="2179080"/>
            <a:ext cx="5504040" cy="187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79080"/>
            <a:ext cx="5504040" cy="187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85800" y="2179080"/>
            <a:ext cx="5504040" cy="187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85800" y="2179080"/>
            <a:ext cx="5504040" cy="187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85800" y="2179080"/>
            <a:ext cx="5504040" cy="187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85800" y="2179080"/>
            <a:ext cx="5504040" cy="187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1E34D96-8A43-47F1-BA9C-75956DFFB3DD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79080"/>
            <a:ext cx="5504040" cy="187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52E4975-B3C3-44A5-AB13-E4CFFF402189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85800" y="2179080"/>
            <a:ext cx="5504040" cy="187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81E7919-7D89-459B-95EE-B348F92BE5C3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85800" y="2179080"/>
            <a:ext cx="5504040" cy="187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63A0764-A0CA-46DD-80D5-DF0711E6F113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85800" y="2179080"/>
            <a:ext cx="5504040" cy="187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FF5F36C-BA1D-469C-9DFD-8DABAA0A639F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685800" y="2179080"/>
            <a:ext cx="5504040" cy="86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1408612-8938-4655-A32D-6898EB127138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85800" y="2179080"/>
            <a:ext cx="5504040" cy="187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E84294D-A717-482D-95D2-B3EBFE021D7E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2179080"/>
            <a:ext cx="5504040" cy="187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F7F33FA-CBC4-4F9B-995D-599AB24B5DF7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85800" y="2179080"/>
            <a:ext cx="5504040" cy="187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A703491-FF6F-4D87-A301-7C05DDF35EB9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85800" y="2179080"/>
            <a:ext cx="5504040" cy="187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803CC07-4337-4427-A9DF-1E4FDD778F66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85800" y="2179080"/>
            <a:ext cx="5504040" cy="187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2F71366-C13F-469B-BC82-447D9F2B4B55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85800" y="2179080"/>
            <a:ext cx="5504040" cy="187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0402D28-0DE2-411E-871A-B09BB51ADFA3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10;p1" descr="Изображение выглядит как здание&#10;&#10;&#10;&#10;Описание создано автоматически"/>
          <p:cNvPicPr/>
          <p:nvPr/>
        </p:nvPicPr>
        <p:blipFill>
          <a:blip r:embed="rId2"/>
          <a:srcRect l="8478" t="16970" r="32636" b="0"/>
          <a:stretch/>
        </p:blipFill>
        <p:spPr>
          <a:xfrm>
            <a:off x="5654880" y="1248840"/>
            <a:ext cx="6589440" cy="5692680"/>
          </a:xfrm>
          <a:prstGeom prst="rect">
            <a:avLst/>
          </a:prstGeom>
          <a:ln w="0">
            <a:noFill/>
          </a:ln>
        </p:spPr>
      </p:pic>
      <p:pic>
        <p:nvPicPr>
          <p:cNvPr id="1" name="Google Shape;12;p1" descr=""/>
          <p:cNvPicPr/>
          <p:nvPr/>
        </p:nvPicPr>
        <p:blipFill>
          <a:blip r:embed="rId3"/>
          <a:stretch/>
        </p:blipFill>
        <p:spPr>
          <a:xfrm>
            <a:off x="685800" y="777600"/>
            <a:ext cx="2168640" cy="627480"/>
          </a:xfrm>
          <a:prstGeom prst="rect">
            <a:avLst/>
          </a:prstGeom>
          <a:ln w="0">
            <a:noFill/>
          </a:ln>
        </p:spPr>
      </p:pic>
      <p:sp>
        <p:nvSpPr>
          <p:cNvPr id="2" name="Google Shape;13;p1"/>
          <p:cNvSpPr/>
          <p:nvPr/>
        </p:nvSpPr>
        <p:spPr>
          <a:xfrm>
            <a:off x="5654880" y="1785240"/>
            <a:ext cx="2148480" cy="50713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85800" y="2179080"/>
            <a:ext cx="5504040" cy="187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Arial"/>
              </a:rPr>
              <a:t>Второй уровень структуры</a:t>
            </a:r>
            <a:endParaRPr b="0" lang="ru-RU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Третий уровень структуры</a:t>
            </a:r>
            <a:endParaRPr b="0" lang="ru-RU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Arial"/>
              </a:rPr>
              <a:t>Четвёртый уровень структуры</a:t>
            </a:r>
            <a:endParaRPr b="0" lang="ru-RU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Пятый уровень структуры</a:t>
            </a:r>
            <a:endParaRPr b="0" lang="ru-RU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Шестой уровень структуры</a:t>
            </a:r>
            <a:endParaRPr b="0" lang="ru-RU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Седьмой уровень структуры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685800" y="6095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ru-RU" sz="1400" spc="-1" strike="noStrike">
                <a:latin typeface="Times New Roman"/>
              </a:defRPr>
            </a:lvl1pPr>
          </a:lstStyle>
          <a:p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24;p3"/>
          <p:cNvSpPr/>
          <p:nvPr/>
        </p:nvSpPr>
        <p:spPr>
          <a:xfrm>
            <a:off x="429840" y="345240"/>
            <a:ext cx="360" cy="454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3" name="Google Shape;25;p3" descr=""/>
          <p:cNvPicPr/>
          <p:nvPr/>
        </p:nvPicPr>
        <p:blipFill>
          <a:blip r:embed="rId2"/>
          <a:stretch/>
        </p:blipFill>
        <p:spPr>
          <a:xfrm>
            <a:off x="10460880" y="331200"/>
            <a:ext cx="1299600" cy="37548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sldNum" idx="2"/>
          </p:nvPr>
        </p:nvSpPr>
        <p:spPr>
          <a:xfrm>
            <a:off x="9307440" y="645156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ru-RU" sz="1200" spc="-1" strike="noStrike">
                <a:solidFill>
                  <a:srgbClr val="8991b5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1A54C91-850E-4A10-86FF-098D4BCDDD6D}" type="slidenum">
              <a:rPr b="1" lang="ru-RU" sz="1200" spc="-1" strike="noStrike">
                <a:solidFill>
                  <a:srgbClr val="8991b5"/>
                </a:solidFill>
                <a:latin typeface="Calibri"/>
                <a:ea typeface="Calibri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Второй уровень структуры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Третий уровень структуры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Четвёртый уровень структуры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Пятый уровень структуры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Шестой уровень структуры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Седьмой уровень структуры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720000" y="1697400"/>
            <a:ext cx="9720000" cy="15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000" spc="-1" strike="noStrike">
                <a:solidFill>
                  <a:srgbClr val="000000"/>
                </a:solidFill>
                <a:latin typeface="Arial"/>
                <a:ea typeface="Arial"/>
              </a:rPr>
              <a:t>ПОЛУЧЕНИЕ ИНФОРМАЦИИ О «ГОРЯЧИХ ТОЧКАХ» КОДА НА ОСНОВЕ АНАЛИЗА РЕЛЯЦИОННОЙ МОДЕЛИ GIT-РЕПОЗИТОРИЯ </a:t>
            </a:r>
            <a:endParaRPr b="0" lang="ru-RU" sz="3000" spc="-1" strike="noStrike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720000" y="3960000"/>
            <a:ext cx="917892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rgbClr val="544f7e"/>
                </a:solidFill>
                <a:latin typeface="Arial"/>
                <a:ea typeface="Arial"/>
              </a:rPr>
              <a:t>Аспирант 2 курса, инженер-программист АО ВНИИЖТ,</a:t>
            </a:r>
            <a:endParaRPr b="0" lang="ru-RU" sz="16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rgbClr val="544f7e"/>
                </a:solidFill>
                <a:latin typeface="Arial"/>
                <a:ea typeface="Arial"/>
              </a:rPr>
              <a:t>Макшаков Сергей Валерьевич.</a:t>
            </a:r>
            <a:endParaRPr b="0" lang="ru-RU" sz="16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rgbClr val="544f7e"/>
                </a:solidFill>
                <a:latin typeface="Arial"/>
                <a:ea typeface="Arial"/>
              </a:rPr>
              <a:t>Научный руководитель, д.т.н., профессор кафедры "Управление и защита информации"</a:t>
            </a:r>
            <a:endParaRPr b="0" lang="ru-RU" sz="16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rgbClr val="544f7e"/>
                </a:solidFill>
                <a:latin typeface="Arial"/>
                <a:ea typeface="Arial"/>
              </a:rPr>
              <a:t>Сидоренко Валентина Геннадьевна</a:t>
            </a:r>
            <a:endParaRPr b="0" lang="ru-RU" sz="1600" spc="-1" strike="noStrike">
              <a:latin typeface="Arial"/>
            </a:endParaRPr>
          </a:p>
        </p:txBody>
      </p:sp>
      <p:sp>
        <p:nvSpPr>
          <p:cNvPr id="91" name="Google Shape;37;p5"/>
          <p:cNvSpPr/>
          <p:nvPr/>
        </p:nvSpPr>
        <p:spPr>
          <a:xfrm flipH="1">
            <a:off x="4514040" y="6057000"/>
            <a:ext cx="3008520" cy="3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2000" spc="-1" strike="noStrike">
                <a:solidFill>
                  <a:srgbClr val="11306e"/>
                </a:solidFill>
                <a:latin typeface="Arial"/>
                <a:ea typeface="Arial"/>
              </a:rPr>
              <a:t>Москва,  2025 г.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92" name="Google Shape;38;p5"/>
          <p:cNvSpPr/>
          <p:nvPr/>
        </p:nvSpPr>
        <p:spPr>
          <a:xfrm>
            <a:off x="3279600" y="970560"/>
            <a:ext cx="360" cy="407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2b235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Google Shape;39;p5"/>
          <p:cNvSpPr/>
          <p:nvPr/>
        </p:nvSpPr>
        <p:spPr>
          <a:xfrm>
            <a:off x="3438720" y="917640"/>
            <a:ext cx="817200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544f7e"/>
                </a:solidFill>
                <a:latin typeface="Arial"/>
                <a:ea typeface="Arial"/>
              </a:rPr>
              <a:t>кафедра «Управление и защита информации»</a:t>
            </a:r>
            <a:endParaRPr b="0" lang="ru-RU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71960" y="280800"/>
            <a:ext cx="8243640" cy="55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544f7e"/>
                </a:solidFill>
                <a:latin typeface="Arial"/>
                <a:ea typeface="Arial"/>
              </a:rPr>
              <a:t>Введение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95" name="Google Shape;46;p6"/>
          <p:cNvSpPr/>
          <p:nvPr/>
        </p:nvSpPr>
        <p:spPr>
          <a:xfrm flipH="1">
            <a:off x="839520" y="6522480"/>
            <a:ext cx="107164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sq" w="12700">
            <a:solidFill>
              <a:srgbClr val="1741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Google Shape;47;p6"/>
          <p:cNvSpPr/>
          <p:nvPr/>
        </p:nvSpPr>
        <p:spPr>
          <a:xfrm>
            <a:off x="471960" y="891360"/>
            <a:ext cx="11143440" cy="530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Arial"/>
              </a:rPr>
              <a:t>ЦЕЛЬ: </a:t>
            </a:r>
            <a:endParaRPr b="0" lang="ru-RU" sz="2000" spc="-1" strike="noStrike">
              <a:latin typeface="Arial"/>
            </a:endParaRPr>
          </a:p>
          <a:p>
            <a:r>
              <a:rPr b="0" lang="ru-RU" sz="2000" spc="-1" strike="noStrike">
                <a:solidFill>
                  <a:srgbClr val="000000"/>
                </a:solidFill>
                <a:latin typeface="Arial"/>
                <a:ea typeface="Arial"/>
              </a:rPr>
              <a:t>На основе реляционной модели Git-репозитория провести анализ «горячих точек» кода (наиболее активно модифицируемых участков кода), их корреляцию с аварийными правками и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Arial"/>
              </a:rPr>
              <a:t>участием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Arial"/>
              </a:rPr>
              <a:t>разработчиков.</a:t>
            </a: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Arial"/>
              </a:rPr>
              <a:t>НОВИЗНА: </a:t>
            </a: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Arial"/>
              </a:rPr>
              <a:t>1. Разработан гибридный ETL-pipline, сочетающий прямое клонирование репозитория и уточняющее использование GitHub API.</a:t>
            </a: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Arial"/>
              </a:rPr>
              <a:t>2. Разработана реляционная модель Git-репозитория для идентификации «горячих точек» на основе истории разработки программного обеспечения и её связи с задачами и запросами на слияние.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ldNum" idx="6"/>
          </p:nvPr>
        </p:nvSpPr>
        <p:spPr>
          <a:xfrm>
            <a:off x="9307440" y="645156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ru-RU" sz="1200" spc="-1" strike="noStrike">
                <a:solidFill>
                  <a:srgbClr val="8991b5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E67D0257-E7BE-4E3D-9860-C5DC023A8548}" type="slidenum">
              <a:rPr b="1" lang="ru-RU" sz="1200" spc="-1" strike="noStrike">
                <a:solidFill>
                  <a:srgbClr val="8991b5"/>
                </a:solidFill>
                <a:latin typeface="Calibri"/>
                <a:ea typeface="Calibri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71960" y="280800"/>
            <a:ext cx="8243640" cy="55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544f7e"/>
                </a:solidFill>
                <a:latin typeface="Arial"/>
                <a:ea typeface="Arial"/>
              </a:rPr>
              <a:t>Анализ релевантных публикаций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99" name="Google Shape;46;p 1"/>
          <p:cNvSpPr/>
          <p:nvPr/>
        </p:nvSpPr>
        <p:spPr>
          <a:xfrm flipH="1">
            <a:off x="839520" y="6522480"/>
            <a:ext cx="107164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sq" w="12700">
            <a:solidFill>
              <a:srgbClr val="1741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Google Shape;47;p 1"/>
          <p:cNvSpPr/>
          <p:nvPr/>
        </p:nvSpPr>
        <p:spPr>
          <a:xfrm>
            <a:off x="471960" y="1080000"/>
            <a:ext cx="11143440" cy="51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Arial"/>
              </a:rPr>
              <a:t>1. Ziyi Ni, «GitTaskBench: A Benchmark for Code Agents Solving Real-World Tasks Through Code Repository Leveraging», 2025</a:t>
            </a: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Arial"/>
              </a:rPr>
              <a:t>2. D. Luo, «GitTemporalAI: Leveraging Temporal Knowledge Graphs and LLMs for Multi-Agent Repository Intelligence», 2024. </a:t>
            </a: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Arial"/>
              </a:rPr>
              <a:t>3. Rifat Ara Proma, «Visual Analysis of GitHub Issues to Gain Insights», 2024.</a:t>
            </a: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Arial"/>
              </a:rPr>
              <a:t>4. Y. Kim, «Githru: Visual Analytics for Understanding Software Development History Through Git Metadata Analysis», 2020.</a:t>
            </a: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endParaRPr b="0" lang="ru-RU" sz="2000" spc="-1" strike="noStrike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ldNum" idx="7"/>
          </p:nvPr>
        </p:nvSpPr>
        <p:spPr>
          <a:xfrm>
            <a:off x="9307440" y="645156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ru-RU" sz="1200" spc="-1" strike="noStrike">
                <a:solidFill>
                  <a:srgbClr val="8991b5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1A7D5376-236A-4F8C-9AD4-5613BA0CF276}" type="slidenum">
              <a:rPr b="1" lang="ru-RU" sz="1200" spc="-1" strike="noStrike">
                <a:solidFill>
                  <a:srgbClr val="8991b5"/>
                </a:solidFill>
                <a:latin typeface="Calibri"/>
                <a:ea typeface="Calibri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71960" y="280800"/>
            <a:ext cx="8243640" cy="55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544f7e"/>
                </a:solidFill>
                <a:latin typeface="Arial"/>
                <a:ea typeface="Arial"/>
              </a:rPr>
              <a:t>Существующие решения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03" name="Google Shape;46;p 10"/>
          <p:cNvSpPr/>
          <p:nvPr/>
        </p:nvSpPr>
        <p:spPr>
          <a:xfrm flipH="1">
            <a:off x="839520" y="6522480"/>
            <a:ext cx="107164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sq" w="12700">
            <a:solidFill>
              <a:srgbClr val="1741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Google Shape;47;p 10"/>
          <p:cNvSpPr/>
          <p:nvPr/>
        </p:nvSpPr>
        <p:spPr>
          <a:xfrm>
            <a:off x="471960" y="891360"/>
            <a:ext cx="11143440" cy="530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Arial"/>
              </a:rPr>
              <a:t>1. Gitinspector - https://github.com/ejwa/gitinspector </a:t>
            </a: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Arial"/>
              </a:rPr>
              <a:t>2. GitHub Analyzer - https://github.com/Jeelislive/Github-Analyzer</a:t>
            </a: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Arial"/>
              </a:rPr>
              <a:t>3. Githru - https://github.com/githru/githru</a:t>
            </a: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Arial"/>
              </a:rPr>
              <a:t>Анализ самых часто изменяемых файлов за определённый период:</a:t>
            </a: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highlight>
                  <a:srgbClr val="dddddd"/>
                </a:highlight>
                <a:latin typeface="Arial"/>
                <a:ea typeface="Arial"/>
              </a:rPr>
              <a:t>git log --since="1 year ago" --until="now" --pretty=format: --name-only | sort | uniq -c | sort -rg | head -10</a:t>
            </a: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Arial"/>
              </a:rPr>
              <a:t>Поиск коммитов, связанных с исправлением ошибок (bug/fix):</a:t>
            </a: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highlight>
                  <a:srgbClr val="dddddd"/>
                </a:highlight>
                <a:latin typeface="Arial"/>
                <a:ea typeface="Arial"/>
              </a:rPr>
              <a:t>git log --grep="bug\|fix\|err\" --regexp-ignore-case --oneline</a:t>
            </a: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Arial"/>
              </a:rPr>
              <a:t>Статистика по авторам:</a:t>
            </a: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highlight>
                  <a:srgbClr val="dddddd"/>
                </a:highlight>
                <a:latin typeface="Arial"/>
                <a:ea typeface="Arial"/>
              </a:rPr>
              <a:t>git shortlog -sn --since="1 year ago" | head -10</a:t>
            </a: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endParaRPr b="0" lang="ru-RU" sz="2000" spc="-1" strike="noStrike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sldNum" idx="8"/>
          </p:nvPr>
        </p:nvSpPr>
        <p:spPr>
          <a:xfrm>
            <a:off x="9307440" y="645156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ru-RU" sz="1200" spc="-1" strike="noStrike">
                <a:solidFill>
                  <a:srgbClr val="8991b5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7A382CB-951C-4492-ACCA-E3ACE6306F3F}" type="slidenum">
              <a:rPr b="1" lang="ru-RU" sz="1200" spc="-1" strike="noStrike">
                <a:solidFill>
                  <a:srgbClr val="8991b5"/>
                </a:solidFill>
                <a:latin typeface="Calibri"/>
                <a:ea typeface="Calibri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71960" y="280800"/>
            <a:ext cx="8243640" cy="55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544f7e"/>
                </a:solidFill>
                <a:latin typeface="Arial"/>
                <a:ea typeface="Arial"/>
              </a:rPr>
              <a:t>Сравнение с существующими решениями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07" name="Google Shape;46;p 12"/>
          <p:cNvSpPr/>
          <p:nvPr/>
        </p:nvSpPr>
        <p:spPr>
          <a:xfrm flipH="1">
            <a:off x="839520" y="6522480"/>
            <a:ext cx="107164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sq" w="12700">
            <a:solidFill>
              <a:srgbClr val="1741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Google Shape;47;p 12"/>
          <p:cNvSpPr/>
          <p:nvPr/>
        </p:nvSpPr>
        <p:spPr>
          <a:xfrm>
            <a:off x="471960" y="891360"/>
            <a:ext cx="11143440" cy="530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PlaceHolder 2"/>
          <p:cNvSpPr>
            <a:spLocks noGrp="1"/>
          </p:cNvSpPr>
          <p:nvPr>
            <p:ph type="sldNum" idx="9"/>
          </p:nvPr>
        </p:nvSpPr>
        <p:spPr>
          <a:xfrm>
            <a:off x="9307440" y="645156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ru-RU" sz="1200" spc="-1" strike="noStrike">
                <a:solidFill>
                  <a:srgbClr val="8991b5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8758C163-8C8F-48B7-9250-6F3489B50086}" type="slidenum">
              <a:rPr b="1" lang="ru-RU" sz="1200" spc="-1" strike="noStrike">
                <a:solidFill>
                  <a:srgbClr val="8991b5"/>
                </a:solidFill>
                <a:latin typeface="Calibri"/>
                <a:ea typeface="Calibri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  <p:graphicFrame>
        <p:nvGraphicFramePr>
          <p:cNvPr id="110" name=""/>
          <p:cNvGraphicFramePr/>
          <p:nvPr/>
        </p:nvGraphicFramePr>
        <p:xfrm>
          <a:off x="360000" y="1093320"/>
          <a:ext cx="11519640" cy="4253400"/>
        </p:xfrm>
        <a:graphic>
          <a:graphicData uri="http://schemas.openxmlformats.org/drawingml/2006/table">
            <a:tbl>
              <a:tblPr/>
              <a:tblGrid>
                <a:gridCol w="2071800"/>
                <a:gridCol w="4347000"/>
                <a:gridCol w="5101200"/>
              </a:tblGrid>
              <a:tr h="137376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ru-RU" sz="1800" spc="-1" strike="noStrike">
                          <a:latin typeface="Arial"/>
                          <a:ea typeface="Noto Sans CJK SC"/>
                        </a:rPr>
                        <a:t>Критерий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ru-RU" sz="1800" spc="-1" strike="noStrike">
                          <a:latin typeface="Arial"/>
                        </a:rPr>
                        <a:t>Существующие решения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ru-RU" sz="1800" spc="-1" strike="noStrike">
                          <a:latin typeface="Arial"/>
                        </a:rPr>
                        <a:t>Преимущества нашего решения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71964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  <a:ea typeface="Noto Sans CJK SC"/>
                        </a:rPr>
                        <a:t>Гибкость функционала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  <a:ea typeface="Noto Sans CJK SC"/>
                        </a:rPr>
                        <a:t>Фиксированные виды анализа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  <a:ea typeface="Noto Sans CJK SC"/>
                        </a:rPr>
                        <a:t>Реляционная модель позволяет выполнять произвольные SQL-запросы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71964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  <a:ea typeface="Noto Sans CJK SC"/>
                        </a:rPr>
                        <a:t>Связь изменений с задачами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  <a:ea typeface="Noto Sans CJK SC"/>
                        </a:rPr>
                        <a:t>Отсутствует сквозная связь 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  <a:ea typeface="Noto Sans CJK SC"/>
                        </a:rPr>
                        <a:t>ETL-пайплайн объединяет данные из Git и GitHub API, обеспечивая связь изменений с задачей и запросом на слияние.</a:t>
                      </a:r>
                      <a:endParaRPr b="0" lang="ru-RU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  <a:ea typeface="Noto Sans CJK SC"/>
                        </a:rPr>
                        <a:t>(Issue → PR → Commit → File)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71964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  <a:ea typeface="Noto Sans CJK SC"/>
                        </a:rPr>
                        <a:t>Наличие реляционной модели данных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  <a:ea typeface="Noto Sans CJK SC"/>
                        </a:rPr>
                        <a:t>Данные не хранятся в структурированной БД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  <a:ea typeface="Noto Sans CJK SC"/>
                        </a:rPr>
                        <a:t>Полная реляционная модель в PostgreSQL с локальным хранением данных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72108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  <a:ea typeface="Noto Sans CJK SC"/>
                        </a:rPr>
                        <a:t>Поиск по типу задач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  <a:ea typeface="Noto Sans CJK SC"/>
                        </a:rPr>
                        <a:t>Фильтрами только по сообщениям коммитов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  <a:ea typeface="Noto Sans CJK SC"/>
                        </a:rPr>
                        <a:t>Поддержка гибких текстовых шаблонов для анализа в commit.message, PR.title, Issue.description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71960" y="280800"/>
            <a:ext cx="8243640" cy="55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544f7e"/>
                </a:solidFill>
                <a:latin typeface="Arial"/>
                <a:ea typeface="Arial"/>
              </a:rPr>
              <a:t>Обзор используемых инструментов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12" name="Google Shape;46;p 2"/>
          <p:cNvSpPr/>
          <p:nvPr/>
        </p:nvSpPr>
        <p:spPr>
          <a:xfrm flipH="1">
            <a:off x="839520" y="6522480"/>
            <a:ext cx="107164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sq" w="12700">
            <a:solidFill>
              <a:srgbClr val="1741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Google Shape;47;p 2"/>
          <p:cNvSpPr/>
          <p:nvPr/>
        </p:nvSpPr>
        <p:spPr>
          <a:xfrm>
            <a:off x="471960" y="1080000"/>
            <a:ext cx="11143440" cy="51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Arial"/>
              </a:rPr>
              <a:t>1 GitHub API предоставляет доступ к метаданным репозитория, включая информацию о коммитах, PR и задачах. </a:t>
            </a: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Arial"/>
              </a:rPr>
              <a:t>Ограничение - 5000 запросов/час для аутентифицированных пользователей.</a:t>
            </a: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Arial"/>
              </a:rPr>
              <a:t>2. PyDriller. Клонирование всего репозитория. </a:t>
            </a: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Arial"/>
              </a:rPr>
              <a:t>Позволяет анализировать коммиты (Commits) и их изменения локально.</a:t>
            </a:r>
            <a:br>
              <a:rPr sz="2000"/>
            </a:b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Arial"/>
              </a:rPr>
              <a:t>Ограничение - не имеет информации о Pull Requests и связанных с ними задач (Issues). 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sldNum" idx="10"/>
          </p:nvPr>
        </p:nvSpPr>
        <p:spPr>
          <a:xfrm>
            <a:off x="9307440" y="645156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ru-RU" sz="1200" spc="-1" strike="noStrike">
                <a:solidFill>
                  <a:srgbClr val="8991b5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28029A6-0C25-4C1E-99C5-145D80F7188A}" type="slidenum">
              <a:rPr b="1" lang="ru-RU" sz="1200" spc="-1" strike="noStrike">
                <a:solidFill>
                  <a:srgbClr val="8991b5"/>
                </a:solidFill>
                <a:latin typeface="Calibri"/>
                <a:ea typeface="Calibri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71960" y="280800"/>
            <a:ext cx="8243640" cy="55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544f7e"/>
                </a:solidFill>
                <a:latin typeface="Arial"/>
                <a:ea typeface="Arial"/>
              </a:rPr>
              <a:t>Гибридный ETL-подход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16" name="Google Shape;46;p 3"/>
          <p:cNvSpPr/>
          <p:nvPr/>
        </p:nvSpPr>
        <p:spPr>
          <a:xfrm flipH="1">
            <a:off x="839520" y="6522480"/>
            <a:ext cx="107164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sq" w="12700">
            <a:solidFill>
              <a:srgbClr val="1741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Google Shape;47;p 3"/>
          <p:cNvSpPr/>
          <p:nvPr/>
        </p:nvSpPr>
        <p:spPr>
          <a:xfrm>
            <a:off x="471960" y="891360"/>
            <a:ext cx="11143440" cy="530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Arial"/>
              </a:rPr>
              <a:t>ETL (Extract, Transform, Load – Извлечение, Преобразование, Загрузка).</a:t>
            </a: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Arial"/>
              </a:rPr>
              <a:t>Объединяет преимущества клонирования репозитория и использования GitHub API.</a:t>
            </a: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Arial"/>
              </a:rPr>
              <a:t>Значительное улучшение производительности. Для репозитория с 1000 коммитов и 200 PR требуется около 200 запросов к API вместо 10000+.</a:t>
            </a: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endParaRPr b="0" lang="ru-RU" sz="2000" spc="-1" strike="noStrike"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sldNum" idx="11"/>
          </p:nvPr>
        </p:nvSpPr>
        <p:spPr>
          <a:xfrm>
            <a:off x="9307440" y="645156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ru-RU" sz="1200" spc="-1" strike="noStrike">
                <a:solidFill>
                  <a:srgbClr val="8991b5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961FFE5-4FFB-4185-81F2-A1CD603D9072}" type="slidenum">
              <a:rPr b="1" lang="ru-RU" sz="1200" spc="-1" strike="noStrike">
                <a:solidFill>
                  <a:srgbClr val="8991b5"/>
                </a:solidFill>
                <a:latin typeface="Calibri"/>
                <a:ea typeface="Calibri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6019920" y="3318840"/>
            <a:ext cx="18000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20" name="" descr=""/>
          <p:cNvPicPr/>
          <p:nvPr/>
        </p:nvPicPr>
        <p:blipFill>
          <a:blip r:embed="rId1"/>
          <a:stretch/>
        </p:blipFill>
        <p:spPr>
          <a:xfrm>
            <a:off x="1080000" y="2304000"/>
            <a:ext cx="8999280" cy="4126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471960" y="280800"/>
            <a:ext cx="8243640" cy="55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544f7e"/>
                </a:solidFill>
                <a:latin typeface="Arial"/>
                <a:ea typeface="Arial"/>
              </a:rPr>
              <a:t>Реляционная модель данных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22" name="Google Shape;46;p 4"/>
          <p:cNvSpPr/>
          <p:nvPr/>
        </p:nvSpPr>
        <p:spPr>
          <a:xfrm flipH="1">
            <a:off x="839520" y="6522480"/>
            <a:ext cx="107164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sq" w="12700">
            <a:solidFill>
              <a:srgbClr val="1741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Google Shape;47;p 4"/>
          <p:cNvSpPr/>
          <p:nvPr/>
        </p:nvSpPr>
        <p:spPr>
          <a:xfrm>
            <a:off x="471960" y="891360"/>
            <a:ext cx="11143440" cy="530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endParaRPr b="0" lang="ru-RU" sz="2000" spc="-1" strike="noStrike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ldNum" idx="12"/>
          </p:nvPr>
        </p:nvSpPr>
        <p:spPr>
          <a:xfrm>
            <a:off x="9307440" y="645156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ru-RU" sz="1200" spc="-1" strike="noStrike">
                <a:solidFill>
                  <a:srgbClr val="8991b5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D235F8F3-EF37-4188-8508-35F34568DA9E}" type="slidenum">
              <a:rPr b="1" lang="ru-RU" sz="1200" spc="-1" strike="noStrike">
                <a:solidFill>
                  <a:srgbClr val="8991b5"/>
                </a:solidFill>
                <a:latin typeface="Calibri"/>
                <a:ea typeface="Calibri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6019920" y="3318840"/>
            <a:ext cx="18000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2160000" y="822600"/>
            <a:ext cx="7559280" cy="5576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71960" y="280800"/>
            <a:ext cx="8243640" cy="55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544f7e"/>
                </a:solidFill>
                <a:latin typeface="Arial"/>
                <a:ea typeface="Arial"/>
              </a:rPr>
              <a:t>Реляционная модель данных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28" name="Google Shape;46;p 5"/>
          <p:cNvSpPr/>
          <p:nvPr/>
        </p:nvSpPr>
        <p:spPr>
          <a:xfrm flipH="1">
            <a:off x="839520" y="6522480"/>
            <a:ext cx="107164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sq" w="12700">
            <a:solidFill>
              <a:srgbClr val="1741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Google Shape;47;p 5"/>
          <p:cNvSpPr/>
          <p:nvPr/>
        </p:nvSpPr>
        <p:spPr>
          <a:xfrm>
            <a:off x="471960" y="5220000"/>
            <a:ext cx="11143440" cy="13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Arial"/>
              </a:rPr>
              <a:t>Примечания к таблице 1: </a:t>
            </a:r>
            <a:endParaRPr b="0" lang="ru-RU" sz="18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Arial"/>
              </a:rPr>
              <a:t>- Поле id во всех таблицах PRIMARY KEY; </a:t>
            </a:r>
            <a:endParaRPr b="0" lang="ru-RU" sz="18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Arial"/>
              </a:rPr>
              <a:t>- Поля, выделенные жирным шрифтом, являются уникальным значением строки; </a:t>
            </a:r>
            <a:endParaRPr b="0" lang="ru-RU" sz="18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Arial"/>
              </a:rPr>
              <a:t>- Все внешние ключи с ON DELETE CASCADE; 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sldNum" idx="13"/>
          </p:nvPr>
        </p:nvSpPr>
        <p:spPr>
          <a:xfrm>
            <a:off x="9307440" y="645156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ru-RU" sz="1200" spc="-1" strike="noStrike">
                <a:solidFill>
                  <a:srgbClr val="8991b5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A214223-B7E0-48F0-9D02-586C8B29EFEB}" type="slidenum">
              <a:rPr b="1" lang="ru-RU" sz="1200" spc="-1" strike="noStrike">
                <a:solidFill>
                  <a:srgbClr val="8991b5"/>
                </a:solidFill>
                <a:latin typeface="Calibri"/>
                <a:ea typeface="Calibri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6019920" y="3318840"/>
            <a:ext cx="18000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132" name=""/>
          <p:cNvGraphicFramePr/>
          <p:nvPr/>
        </p:nvGraphicFramePr>
        <p:xfrm>
          <a:off x="540000" y="884160"/>
          <a:ext cx="11159640" cy="4400280"/>
        </p:xfrm>
        <a:graphic>
          <a:graphicData uri="http://schemas.openxmlformats.org/drawingml/2006/table">
            <a:tbl>
              <a:tblPr/>
              <a:tblGrid>
                <a:gridCol w="1734120"/>
                <a:gridCol w="5403960"/>
                <a:gridCol w="4021920"/>
              </a:tblGrid>
              <a:tr h="54360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</a:rPr>
                        <a:t>Таблица 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</a:rPr>
                        <a:t>Поля 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</a:rPr>
                        <a:t>Внешние ключи 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38016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</a:rPr>
                        <a:t>repositories 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</a:rPr>
                        <a:t>id, name, </a:t>
                      </a:r>
                      <a:r>
                        <a:rPr b="1" lang="ru-RU" sz="1800" spc="-1" strike="noStrike">
                          <a:latin typeface="Arial"/>
                        </a:rPr>
                        <a:t>url</a:t>
                      </a:r>
                      <a:r>
                        <a:rPr b="0" lang="ru-RU" sz="1800" spc="-1" strike="noStrike">
                          <a:latin typeface="Arial"/>
                        </a:rPr>
                        <a:t>, default_branch 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</a:rPr>
                        <a:t>-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89604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</a:rPr>
                        <a:t>commits 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</a:rPr>
                        <a:t>id, </a:t>
                      </a:r>
                      <a:r>
                        <a:rPr b="1" lang="ru-RU" sz="1800" spc="-1" strike="noStrike">
                          <a:latin typeface="Arial"/>
                        </a:rPr>
                        <a:t>repo_id, hash</a:t>
                      </a:r>
                      <a:r>
                        <a:rPr b="0" lang="ru-RU" sz="1800" spc="-1" strike="noStrike">
                          <a:latin typeface="Arial"/>
                        </a:rPr>
                        <a:t>, parent_hashes, author_name, author_email, commit_created_at, message, pull_request_id 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</a:rPr>
                        <a:t>repo_id → repositories(id); pull_request_id → pull_requests(id) 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66096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</a:rPr>
                        <a:t>pull_requests 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</a:rPr>
                        <a:t>id, </a:t>
                      </a:r>
                      <a:r>
                        <a:rPr b="1" lang="ru-RU" sz="1800" spc="-1" strike="noStrike">
                          <a:latin typeface="Arial"/>
                        </a:rPr>
                        <a:t>repo_id, number</a:t>
                      </a:r>
                      <a:r>
                        <a:rPr b="0" lang="ru-RU" sz="1800" spc="-1" strike="noStrike">
                          <a:latin typeface="Arial"/>
                        </a:rPr>
                        <a:t>, title, state, pr_created_at, pr_merged_at, author, url, issue_ids 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</a:rPr>
                        <a:t>repo_id → repositories(id) 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64620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</a:rPr>
                        <a:t>issues 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</a:rPr>
                        <a:t>id, </a:t>
                      </a:r>
                      <a:r>
                        <a:rPr b="1" lang="ru-RU" sz="1800" spc="-1" strike="noStrike">
                          <a:latin typeface="Arial"/>
                        </a:rPr>
                        <a:t>repo_id, task_ids</a:t>
                      </a:r>
                      <a:r>
                        <a:rPr b="0" lang="ru-RU" sz="1800" spc="-1" strike="noStrike">
                          <a:latin typeface="Arial"/>
                        </a:rPr>
                        <a:t>, itle, description, issue_created_at, issue_closed_at, created_at 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</a:rPr>
                        <a:t>repo_id → repositories(id) 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63144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</a:rPr>
                        <a:t>file_change 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</a:rPr>
                        <a:t>id, </a:t>
                      </a:r>
                      <a:r>
                        <a:rPr b="1" lang="ru-RU" sz="1800" spc="-1" strike="noStrike">
                          <a:latin typeface="Arial"/>
                        </a:rPr>
                        <a:t>repo_id, commit_id, file_path</a:t>
                      </a:r>
                      <a:r>
                        <a:rPr b="0" lang="ru-RU" sz="1800" spc="-1" strike="noStrike">
                          <a:latin typeface="Arial"/>
                        </a:rPr>
                        <a:t>, old_path, change_type, diff 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</a:rPr>
                        <a:t>repo_id → repositories(id); </a:t>
                      </a:r>
                      <a:endParaRPr b="0" lang="ru-RU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</a:rPr>
                        <a:t>commit_id → commits(id) 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64224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</a:rPr>
                        <a:t>changelog 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</a:rPr>
                        <a:t>id, repo_id, commit_id, summary, full_description, tags, related_symbols, affected_files 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</a:rPr>
                        <a:t>repo_id → repositories(id); </a:t>
                      </a:r>
                      <a:endParaRPr b="0" lang="ru-RU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latin typeface="Arial"/>
                        </a:rPr>
                        <a:t>commit_id → commits(id) </a:t>
                      </a:r>
                      <a:endParaRPr b="0" lang="ru-RU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71960" y="280800"/>
            <a:ext cx="8243640" cy="55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544f7e"/>
                </a:solidFill>
                <a:latin typeface="Arial"/>
                <a:ea typeface="Arial"/>
              </a:rPr>
              <a:t>Варианты анализа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34" name="Google Shape;46;p 6"/>
          <p:cNvSpPr/>
          <p:nvPr/>
        </p:nvSpPr>
        <p:spPr>
          <a:xfrm flipH="1">
            <a:off x="839520" y="6522480"/>
            <a:ext cx="107164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sq" w="12700">
            <a:solidFill>
              <a:srgbClr val="1741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Google Shape;47;p 6"/>
          <p:cNvSpPr/>
          <p:nvPr/>
        </p:nvSpPr>
        <p:spPr>
          <a:xfrm>
            <a:off x="471960" y="891360"/>
            <a:ext cx="11143440" cy="530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Arial"/>
              </a:rPr>
              <a:t>Определение файлов с наибольшим количеством изменений за определённый период.</a:t>
            </a:r>
            <a:endParaRPr b="0" lang="ru-RU" sz="18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sldNum" idx="14"/>
          </p:nvPr>
        </p:nvSpPr>
        <p:spPr>
          <a:xfrm>
            <a:off x="9307440" y="645156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ru-RU" sz="1200" spc="-1" strike="noStrike">
                <a:solidFill>
                  <a:srgbClr val="8991b5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E59E8EE-84D0-4E19-AB71-DFB8620CF3E6}" type="slidenum">
              <a:rPr b="1" lang="ru-RU" sz="1200" spc="-1" strike="noStrike">
                <a:solidFill>
                  <a:srgbClr val="8991b5"/>
                </a:solidFill>
                <a:latin typeface="Calibri"/>
                <a:ea typeface="Calibri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  <p:pic>
        <p:nvPicPr>
          <p:cNvPr id="137" name="" descr=""/>
          <p:cNvPicPr/>
          <p:nvPr/>
        </p:nvPicPr>
        <p:blipFill>
          <a:blip r:embed="rId1"/>
          <a:stretch/>
        </p:blipFill>
        <p:spPr>
          <a:xfrm>
            <a:off x="540000" y="1390680"/>
            <a:ext cx="6971760" cy="2208960"/>
          </a:xfrm>
          <a:prstGeom prst="rect">
            <a:avLst/>
          </a:prstGeom>
          <a:ln w="0">
            <a:noFill/>
          </a:ln>
        </p:spPr>
      </p:pic>
      <p:pic>
        <p:nvPicPr>
          <p:cNvPr id="138" name="" descr=""/>
          <p:cNvPicPr/>
          <p:nvPr/>
        </p:nvPicPr>
        <p:blipFill>
          <a:blip r:embed="rId2"/>
          <a:stretch/>
        </p:blipFill>
        <p:spPr>
          <a:xfrm>
            <a:off x="540000" y="3780000"/>
            <a:ext cx="4533120" cy="2171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71960" y="280800"/>
            <a:ext cx="8243640" cy="55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544f7e"/>
                </a:solidFill>
                <a:latin typeface="Arial"/>
                <a:ea typeface="Arial"/>
              </a:rPr>
              <a:t>Варианты анализа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40" name="Google Shape;46;p 7"/>
          <p:cNvSpPr/>
          <p:nvPr/>
        </p:nvSpPr>
        <p:spPr>
          <a:xfrm flipH="1">
            <a:off x="839520" y="6522480"/>
            <a:ext cx="107164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sq" w="12700">
            <a:solidFill>
              <a:srgbClr val="1741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Google Shape;47;p 7"/>
          <p:cNvSpPr/>
          <p:nvPr/>
        </p:nvSpPr>
        <p:spPr>
          <a:xfrm>
            <a:off x="471960" y="720000"/>
            <a:ext cx="11143440" cy="547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Arial"/>
              </a:rPr>
              <a:t>Определение файлов, которые часто изменяются разными разработчиками за определённый период.</a:t>
            </a:r>
            <a:endParaRPr b="0" lang="ru-RU" sz="18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sldNum" idx="15"/>
          </p:nvPr>
        </p:nvSpPr>
        <p:spPr>
          <a:xfrm>
            <a:off x="9307440" y="645156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ru-RU" sz="1200" spc="-1" strike="noStrike">
                <a:solidFill>
                  <a:srgbClr val="8991b5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ECA5F07-F090-4985-A7FB-1D204FE21CCE}" type="slidenum">
              <a:rPr b="1" lang="ru-RU" sz="1200" spc="-1" strike="noStrike">
                <a:solidFill>
                  <a:srgbClr val="8991b5"/>
                </a:solidFill>
                <a:latin typeface="Calibri"/>
                <a:ea typeface="Calibri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  <p:pic>
        <p:nvPicPr>
          <p:cNvPr id="143" name="" descr=""/>
          <p:cNvPicPr/>
          <p:nvPr/>
        </p:nvPicPr>
        <p:blipFill>
          <a:blip r:embed="rId1"/>
          <a:stretch/>
        </p:blipFill>
        <p:spPr>
          <a:xfrm>
            <a:off x="540000" y="1188000"/>
            <a:ext cx="8019360" cy="2999520"/>
          </a:xfrm>
          <a:prstGeom prst="rect">
            <a:avLst/>
          </a:prstGeom>
          <a:ln w="0">
            <a:noFill/>
          </a:ln>
        </p:spPr>
      </p:pic>
      <p:pic>
        <p:nvPicPr>
          <p:cNvPr id="144" name="" descr=""/>
          <p:cNvPicPr/>
          <p:nvPr/>
        </p:nvPicPr>
        <p:blipFill>
          <a:blip r:embed="rId2"/>
          <a:stretch/>
        </p:blipFill>
        <p:spPr>
          <a:xfrm>
            <a:off x="540000" y="4320000"/>
            <a:ext cx="8686080" cy="216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71960" y="280800"/>
            <a:ext cx="8243640" cy="55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544f7e"/>
                </a:solidFill>
                <a:latin typeface="Arial"/>
                <a:ea typeface="Arial"/>
              </a:rPr>
              <a:t>Варианты анализа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46" name="Google Shape;46;p 8"/>
          <p:cNvSpPr/>
          <p:nvPr/>
        </p:nvSpPr>
        <p:spPr>
          <a:xfrm flipH="1">
            <a:off x="839520" y="6522480"/>
            <a:ext cx="107164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sq" w="12700">
            <a:solidFill>
              <a:srgbClr val="1741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Google Shape;47;p 8"/>
          <p:cNvSpPr/>
          <p:nvPr/>
        </p:nvSpPr>
        <p:spPr>
          <a:xfrm>
            <a:off x="471960" y="720000"/>
            <a:ext cx="11143440" cy="547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Arial"/>
              </a:rPr>
              <a:t>Связь изменений с типами задач. Анализ изменений, связанных с исправлением ошибок.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sldNum" idx="16"/>
          </p:nvPr>
        </p:nvSpPr>
        <p:spPr>
          <a:xfrm>
            <a:off x="9307440" y="645156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ru-RU" sz="1200" spc="-1" strike="noStrike">
                <a:solidFill>
                  <a:srgbClr val="8991b5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A10AC918-2E68-4513-AD03-B87017181D75}" type="slidenum">
              <a:rPr b="1" lang="ru-RU" sz="1200" spc="-1" strike="noStrike">
                <a:solidFill>
                  <a:srgbClr val="8991b5"/>
                </a:solidFill>
                <a:latin typeface="Calibri"/>
                <a:ea typeface="Calibri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  <p:pic>
        <p:nvPicPr>
          <p:cNvPr id="149" name="" descr=""/>
          <p:cNvPicPr/>
          <p:nvPr/>
        </p:nvPicPr>
        <p:blipFill>
          <a:blip r:embed="rId1"/>
          <a:stretch/>
        </p:blipFill>
        <p:spPr>
          <a:xfrm>
            <a:off x="301680" y="1071000"/>
            <a:ext cx="10857960" cy="4904640"/>
          </a:xfrm>
          <a:prstGeom prst="rect">
            <a:avLst/>
          </a:prstGeom>
          <a:ln w="0">
            <a:noFill/>
          </a:ln>
        </p:spPr>
      </p:pic>
      <p:pic>
        <p:nvPicPr>
          <p:cNvPr id="150" name="" descr=""/>
          <p:cNvPicPr/>
          <p:nvPr/>
        </p:nvPicPr>
        <p:blipFill>
          <a:blip r:embed="rId2"/>
          <a:stretch/>
        </p:blipFill>
        <p:spPr>
          <a:xfrm>
            <a:off x="5220000" y="5513040"/>
            <a:ext cx="6714360" cy="1009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71960" y="280800"/>
            <a:ext cx="8243640" cy="55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544f7e"/>
                </a:solidFill>
                <a:latin typeface="Arial"/>
                <a:ea typeface="Arial"/>
              </a:rPr>
              <a:t>Будущие исследования с использованием LLM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52" name="Google Shape;46;p 9"/>
          <p:cNvSpPr/>
          <p:nvPr/>
        </p:nvSpPr>
        <p:spPr>
          <a:xfrm flipH="1">
            <a:off x="839520" y="6522480"/>
            <a:ext cx="107164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sq" w="12700">
            <a:solidFill>
              <a:srgbClr val="1741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Google Shape;47;p 9"/>
          <p:cNvSpPr/>
          <p:nvPr/>
        </p:nvSpPr>
        <p:spPr>
          <a:xfrm>
            <a:off x="471960" y="1080000"/>
            <a:ext cx="11143440" cy="51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Arial"/>
              </a:rPr>
              <a:t>1. Автогенерации SQL-запросов на основе пользовательского запроса.</a:t>
            </a: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endParaRPr b="0" lang="ru-RU" sz="2000" spc="-1" strike="noStrike">
              <a:latin typeface="Arial"/>
            </a:endParaRPr>
          </a:p>
          <a:p>
            <a:pPr algn="just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Arial"/>
              </a:rPr>
              <a:t>2. Дополнение ответа с применением Retrieval Augmented Generation (RAG) по документации проекта.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sldNum" idx="17"/>
          </p:nvPr>
        </p:nvSpPr>
        <p:spPr>
          <a:xfrm>
            <a:off x="9307440" y="645156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ru-RU" sz="1200" spc="-1" strike="noStrike">
                <a:solidFill>
                  <a:srgbClr val="8991b5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0DC8BEA-E9EB-4A23-981C-BBF477537C52}" type="slidenum">
              <a:rPr b="1" lang="ru-RU" sz="1200" spc="-1" strike="noStrike">
                <a:solidFill>
                  <a:srgbClr val="8991b5"/>
                </a:solidFill>
                <a:latin typeface="Calibri"/>
                <a:ea typeface="Calibri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1053000" y="2520000"/>
            <a:ext cx="5912640" cy="165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5400" spc="-1" strike="noStrike">
                <a:solidFill>
                  <a:srgbClr val="174193"/>
                </a:solidFill>
                <a:latin typeface="Arial"/>
                <a:ea typeface="Arial"/>
              </a:rPr>
              <a:t>Спасибо за внимание!</a:t>
            </a:r>
            <a:endParaRPr b="0" lang="ru-RU" sz="5400" spc="-1" strike="noStrike">
              <a:latin typeface="Arial"/>
            </a:endParaRPr>
          </a:p>
        </p:txBody>
      </p:sp>
      <p:sp>
        <p:nvSpPr>
          <p:cNvPr id="156" name="Google Shape;141;p15"/>
          <p:cNvSpPr/>
          <p:nvPr/>
        </p:nvSpPr>
        <p:spPr>
          <a:xfrm>
            <a:off x="419040" y="584280"/>
            <a:ext cx="3071880" cy="1065240"/>
          </a:xfrm>
          <a:prstGeom prst="rect">
            <a:avLst/>
          </a:prstGeom>
          <a:solidFill>
            <a:schemeClr val="lt1"/>
          </a:solidFill>
          <a:ln w="127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74193"/>
      </a:dk2>
      <a:lt2>
        <a:srgbClr val="e7e6e6"/>
      </a:lt2>
      <a:accent1>
        <a:srgbClr val="d71b04"/>
      </a:accent1>
      <a:accent2>
        <a:srgbClr val="f8b232"/>
      </a:accent2>
      <a:accent3>
        <a:srgbClr val="026631"/>
      </a:accent3>
      <a:accent4>
        <a:srgbClr val="a6a4a6"/>
      </a:accent4>
      <a:accent5>
        <a:srgbClr val="184093"/>
      </a:accent5>
      <a:accent6>
        <a:srgbClr val="ff9300"/>
      </a:accent6>
      <a:hlink>
        <a:srgbClr val="7980ff"/>
      </a:hlink>
      <a:folHlink>
        <a:srgbClr val="01189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74193"/>
      </a:dk2>
      <a:lt2>
        <a:srgbClr val="e7e6e6"/>
      </a:lt2>
      <a:accent1>
        <a:srgbClr val="d71b04"/>
      </a:accent1>
      <a:accent2>
        <a:srgbClr val="f8b232"/>
      </a:accent2>
      <a:accent3>
        <a:srgbClr val="026631"/>
      </a:accent3>
      <a:accent4>
        <a:srgbClr val="a6a4a6"/>
      </a:accent4>
      <a:accent5>
        <a:srgbClr val="184093"/>
      </a:accent5>
      <a:accent6>
        <a:srgbClr val="ff9300"/>
      </a:accent6>
      <a:hlink>
        <a:srgbClr val="7980ff"/>
      </a:hlink>
      <a:folHlink>
        <a:srgbClr val="01189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74193"/>
      </a:dk2>
      <a:lt2>
        <a:srgbClr val="e7e6e6"/>
      </a:lt2>
      <a:accent1>
        <a:srgbClr val="d71b04"/>
      </a:accent1>
      <a:accent2>
        <a:srgbClr val="f8b232"/>
      </a:accent2>
      <a:accent3>
        <a:srgbClr val="026631"/>
      </a:accent3>
      <a:accent4>
        <a:srgbClr val="a6a4a6"/>
      </a:accent4>
      <a:accent5>
        <a:srgbClr val="184093"/>
      </a:accent5>
      <a:accent6>
        <a:srgbClr val="ff9300"/>
      </a:accent6>
      <a:hlink>
        <a:srgbClr val="7980ff"/>
      </a:hlink>
      <a:folHlink>
        <a:srgbClr val="01189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/>
  <dcterms:modified xsi:type="dcterms:W3CDTF">2025-10-14T12:33:37Z</dcterms:modified>
  <cp:revision>48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